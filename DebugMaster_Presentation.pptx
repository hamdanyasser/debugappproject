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</a:defRPr>
            </a:pPr>
            <a:r>
              <a:t>DebugMaster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i="1">
                <a:solidFill>
                  <a:srgbClr val="7C4DFF"/>
                </a:solidFill>
              </a:defRPr>
            </a:pPr>
            <a:r>
              <a:t>Learn to Debug. Level Up. Compete.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B8B8D0"/>
                </a:solidFill>
              </a:defRPr>
            </a:pPr>
            <a:r>
              <a:t>An Android Educational Game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0" y="3840480"/>
            <a:ext cx="3657600" cy="50800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5252"/>
                </a:solidFill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t>Learning to code is hard. Learning to debug is harder.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B8B8D0"/>
                </a:solidFill>
              </a:defRPr>
            </a:pPr>
            <a:r>
              <a:t>  70% of developer time is spent debugging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1752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B8B8D0"/>
                </a:solidFill>
              </a:defRPr>
            </a:pPr>
            <a:r>
              <a:t>  Traditional tutorials are passive and boring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749039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B8B8D0"/>
                </a:solidFill>
              </a:defRPr>
            </a:pPr>
            <a:r>
              <a:t>  No gamification = no motivation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48056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B8B8D0"/>
                </a:solidFill>
              </a:defRPr>
            </a:pPr>
            <a:r>
              <a:t>  Students give up before mastering skills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E676"/>
                </a:solidFill>
              </a:defRPr>
            </a:pPr>
            <a:r>
              <a:t>Our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7C4DFF"/>
                </a:solidFill>
              </a:defRPr>
            </a:pPr>
            <a:r>
              <a:t>DebugMaster: Gamified Debugging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  Fix real bugs with real code execution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  8 game modes for every learning style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383279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  Compete in ranked battles (Elo system)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023359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  AI mentor guides without giving answers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66344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  Track progress with XP, levels, achievements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7C4DFF"/>
                </a:solidFill>
              </a:defRPr>
            </a:pPr>
            <a:r>
              <a:t>Core Gameplay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00E676"/>
                </a:solidFill>
              </a:defRPr>
            </a:pPr>
            <a:r>
              <a:t>Fix Bugs. Run Tests. Earn XP.</a:t>
            </a:r>
          </a:p>
        </p:txBody>
      </p:sp>
      <p:sp>
        <p:nvSpPr>
          <p:cNvPr id="4" name="Oval 3"/>
          <p:cNvSpPr/>
          <p:nvPr/>
        </p:nvSpPr>
        <p:spPr>
          <a:xfrm>
            <a:off x="914400" y="2103120"/>
            <a:ext cx="457200" cy="457200"/>
          </a:xfrm>
          <a:prstGeom prst="ellipse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214884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t>See broken code with error message</a:t>
            </a:r>
          </a:p>
        </p:txBody>
      </p:sp>
      <p:sp>
        <p:nvSpPr>
          <p:cNvPr id="7" name="Oval 6"/>
          <p:cNvSpPr/>
          <p:nvPr/>
        </p:nvSpPr>
        <p:spPr>
          <a:xfrm>
            <a:off x="914400" y="2880360"/>
            <a:ext cx="457200" cy="457200"/>
          </a:xfrm>
          <a:prstGeom prst="ellipse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92608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92608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t>Identify and fix the bug</a:t>
            </a:r>
          </a:p>
        </p:txBody>
      </p:sp>
      <p:sp>
        <p:nvSpPr>
          <p:cNvPr id="10" name="Oval 9"/>
          <p:cNvSpPr/>
          <p:nvPr/>
        </p:nvSpPr>
        <p:spPr>
          <a:xfrm>
            <a:off x="914400" y="3657600"/>
            <a:ext cx="457200" cy="457200"/>
          </a:xfrm>
          <a:prstGeom prst="ellipse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70332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370332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t>Run tests in real Java sandbox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" y="4434840"/>
            <a:ext cx="457200" cy="457200"/>
          </a:xfrm>
          <a:prstGeom prst="ellipse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48056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448056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t>Celebrate with confetti!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4864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i="1">
                <a:solidFill>
                  <a:srgbClr val="FFD54F"/>
                </a:solidFill>
              </a:defRPr>
            </a:pPr>
            <a:r>
              <a:t>[LIVE DEMO]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7C4DFF"/>
                </a:solidFill>
              </a:defRPr>
            </a:pPr>
            <a:r>
              <a:t>8 Game Modes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0E676"/>
                </a:solidFill>
              </a:defRPr>
            </a:pPr>
            <a:r>
              <a:t>CASUAL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Tutorial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83464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Quick Fix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38328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Daily Challenge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164592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5252"/>
                </a:solidFill>
              </a:defRPr>
            </a:pPr>
            <a:r>
              <a:t>COMPETITIVE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228600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Battle Arena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283464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Speed Run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0" y="164592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D54F"/>
                </a:solidFill>
              </a:defRPr>
            </a:pPr>
            <a:r>
              <a:t>SPECIAL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0" y="228600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Puzzle Mode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0" y="283464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Mystery Bug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338328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Survival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5252"/>
                </a:solidFill>
              </a:defRPr>
            </a:pPr>
            <a:r>
              <a:t>Ranked Battles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D54F"/>
                </a:solidFill>
              </a:defRPr>
            </a:pPr>
            <a:r>
              <a:t>Elo-Based Competitive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7C4DFF"/>
                </a:solidFill>
              </a:defRPr>
            </a:pPr>
            <a:r>
              <a:t>Unranked  &gt;  Bronze  &gt;  Silver  &gt;  Gold  &gt;  Diamond  &gt;  Master  &gt;  Legend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  Race to fix the same bug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56616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  Win = gain Elo, Lose = lose Elo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20624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  Seasonal resets with rewards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8463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  Fair matchmaking (+-100-300 Elo)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70C9FF"/>
                </a:solidFill>
              </a:defRPr>
            </a:pPr>
            <a:r>
              <a:t>Learning Paths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00E676"/>
                </a:solidFill>
              </a:defRPr>
            </a:pPr>
            <a:r>
              <a:t>Structured Progression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  15 curated learning journeys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  Beginner -&gt; Expert difficulty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383279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  Progress tracking &amp; prerequisites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023359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  Certificates on completion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029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7C4DFF"/>
                </a:solidFill>
              </a:defRPr>
            </a:pPr>
            <a:r>
              <a:t>Loops  |  Arrays  |  OOP  |  Concurrency  |  Security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7C4DFF"/>
                </a:solidFill>
              </a:defRPr>
            </a:pPr>
            <a:r>
              <a:t>AI Debug Mentor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D54F"/>
                </a:solidFill>
              </a:defRPr>
            </a:pPr>
            <a:r>
              <a:t>Socratic Method Teaching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  Asks guiding questions, not answers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97479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  5-level progressive hint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91839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  GPT-4 powered (with offline fallback)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8862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  Personalized to your skill level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57200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1">
                <a:solidFill>
                  <a:srgbClr val="00E676"/>
                </a:solidFill>
              </a:defRPr>
            </a:pPr>
            <a:r>
              <a:t>"What do you expect this line to do?"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512064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1">
                <a:solidFill>
                  <a:srgbClr val="00E676"/>
                </a:solidFill>
              </a:defRPr>
            </a:pPr>
            <a:r>
              <a:t>"Have you traced the variable values?"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D54F"/>
                </a:solidFill>
              </a:defRPr>
            </a:pPr>
            <a:r>
              <a:t>Gamification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00E676"/>
                </a:solidFill>
              </a:defRPr>
            </a:pPr>
            <a:r>
              <a:t>XP, Streaks,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7C4DFF"/>
                </a:solidFill>
              </a:defRPr>
            </a:pPr>
            <a:r>
              <a:t>Difficulty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182880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7C4DFF"/>
                </a:solidFill>
              </a:defRPr>
            </a:pPr>
            <a:r>
              <a:t>XP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182880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7C4DFF"/>
                </a:solidFill>
              </a:defRPr>
            </a:pPr>
            <a:r>
              <a:t>Gems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28600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Easy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228600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228600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74320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Medium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274320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274320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20040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Hard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320040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50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320040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20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65760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Expert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365760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100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365760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40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B8B8D0"/>
                </a:solidFill>
              </a:defRPr>
            </a:pPr>
            <a:r>
              <a:t>Bonuses: 2x for no hints  |  +5%/day streak  |  2x weekends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0292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FFD54F"/>
                </a:solidFill>
              </a:defRPr>
            </a:pPr>
            <a:r>
              <a:t>40+ achievements across 5 categories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70C9FF"/>
                </a:solidFill>
              </a:defRPr>
            </a:pPr>
            <a: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00E676"/>
                </a:solidFill>
              </a:defRPr>
            </a:pPr>
            <a:r>
              <a:t>Modern Android Stack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286000" y="1828800"/>
            <a:ext cx="4572000" cy="640080"/>
          </a:xfrm>
          <a:prstGeom prst="roundRect">
            <a:avLst/>
          </a:prstGeom>
          <a:solidFill>
            <a:srgbClr val="1A1A2E"/>
          </a:solidFill>
          <a:ln w="25400">
            <a:solidFill>
              <a:srgbClr val="7C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0" y="196596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UI (Fragments)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0" y="2651760"/>
            <a:ext cx="4572000" cy="640080"/>
          </a:xfrm>
          <a:prstGeom prst="roundRect">
            <a:avLst/>
          </a:prstGeom>
          <a:solidFill>
            <a:srgbClr val="1A1A2E"/>
          </a:solidFill>
          <a:ln w="254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0" y="27889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ViewModels (MVVM)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86000" y="3474720"/>
            <a:ext cx="4572000" cy="640080"/>
          </a:xfrm>
          <a:prstGeom prst="roundRect">
            <a:avLst/>
          </a:prstGeom>
          <a:solidFill>
            <a:srgbClr val="1A1A2E"/>
          </a:solidFill>
          <a:ln w="25400">
            <a:solidFill>
              <a:srgbClr val="70C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6000" y="361188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BugRepository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86000" y="4297680"/>
            <a:ext cx="4572000" cy="640080"/>
          </a:xfrm>
          <a:prstGeom prst="roundRect">
            <a:avLst/>
          </a:prstGeom>
          <a:solidFill>
            <a:srgbClr val="1A1A2E"/>
          </a:solidFill>
          <a:ln w="25400">
            <a:solidFill>
              <a:srgbClr val="FFD5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86000" y="443484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Room Database &lt;-&gt; Firebase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3035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B8B8D0"/>
                </a:solidFill>
              </a:defRPr>
            </a:pPr>
            <a:r>
              <a:t>Hilt Dependency Injection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3035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B8B8D0"/>
                </a:solidFill>
              </a:defRPr>
            </a:pPr>
            <a:r>
              <a:t>Hilt Dependency Injection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3035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B8B8D0"/>
                </a:solidFill>
              </a:defRPr>
            </a:pPr>
            <a:r>
              <a:t>Hilt Dependency Injection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3035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B8B8D0"/>
                </a:solidFill>
              </a:defRPr>
            </a:pPr>
            <a:r>
              <a:t>Hilt DI  |  Janino Compiler  |  Material Design 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E676"/>
                </a:solidFill>
              </a:defRPr>
            </a:pPr>
            <a:r>
              <a:t>Tech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7C4DFF"/>
                </a:solidFill>
              </a:defRPr>
            </a:pPr>
            <a:r>
              <a:t>Language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16459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Java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4028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7C4DFF"/>
                </a:solidFill>
              </a:defRPr>
            </a:pPr>
            <a:r>
              <a:t>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224028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MVVM + Repository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7C4DFF"/>
                </a:solidFill>
              </a:defRPr>
            </a:pPr>
            <a:r>
              <a:t>Database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283464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Room (11 entities)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42900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7C4DFF"/>
                </a:solidFill>
              </a:defRPr>
            </a:pPr>
            <a:r>
              <a:t>Backend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342900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Firebase (Auth, Firestore, Realtime DB)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02336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7C4DFF"/>
                </a:solidFill>
              </a:defRPr>
            </a:pPr>
            <a:r>
              <a:t>Code Execution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402336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Janino Compiler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61772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7C4DFF"/>
                </a:solidFill>
              </a:defRPr>
            </a:pPr>
            <a:r>
              <a:t>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46177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OpenAI GPT-4 API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21208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7C4DFF"/>
                </a:solidFill>
              </a:defRPr>
            </a:pPr>
            <a:r>
              <a:t>Payments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521208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Google Play Billing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D54F"/>
                </a:solidFill>
              </a:defRPr>
            </a:pPr>
            <a:r>
              <a:t>Monetization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00E676"/>
                </a:solidFill>
              </a:defRPr>
            </a:pPr>
            <a:r>
              <a:t>Freemium Model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474720" cy="2286000"/>
          </a:xfrm>
          <a:prstGeom prst="roundRect">
            <a:avLst/>
          </a:prstGeom>
          <a:solidFill>
            <a:srgbClr val="1A1A2E"/>
          </a:solidFill>
          <a:ln w="254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0E676"/>
                </a:solidFill>
              </a:defRPr>
            </a:pPr>
            <a:r>
              <a:t>FREE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6888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  4 learning paths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2608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  Daily challenges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38328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  Quick Fix (5/day)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0" y="1828800"/>
            <a:ext cx="3474720" cy="2286000"/>
          </a:xfrm>
          <a:prstGeom prst="roundRect">
            <a:avLst/>
          </a:prstGeom>
          <a:solidFill>
            <a:srgbClr val="1A1A2E"/>
          </a:solidFill>
          <a:ln w="25400">
            <a:solidFill>
              <a:srgbClr val="FFD5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0" y="19202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D54F"/>
                </a:solidFill>
              </a:defRPr>
            </a:pPr>
            <a:r>
              <a:t>PRO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246888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  15 learning paths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0" y="288036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  Unlimited plays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329184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  Battle Arena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370332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  AI Mentor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5720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7C4DFF"/>
                </a:solidFill>
              </a:defRPr>
            </a:pPr>
            <a:r>
              <a:t>$4.99/mo  |  $39.99/yr (33% off)  |  $99.99 lifetime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7C4DFF"/>
                </a:solidFill>
              </a:defRPr>
            </a:pPr>
            <a:r>
              <a:t>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92608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FFFFFF"/>
                </a:solidFill>
              </a:defRPr>
            </a:pPr>
            <a:r>
              <a:t>1. Home screen &amp; daily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4747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FFFFFF"/>
                </a:solidFill>
              </a:defRPr>
            </a:pPr>
            <a:r>
              <a:t>2. Fix a bug live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402336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FFFFFF"/>
                </a:solidFill>
              </a:defRPr>
            </a:pPr>
            <a:r>
              <a:t>3. Game modes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5720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FFFFFF"/>
                </a:solidFill>
              </a:defRPr>
            </a:pPr>
            <a:r>
              <a:t>4. Battle Arena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512064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FFFFFF"/>
                </a:solidFill>
              </a:defRPr>
            </a:pPr>
            <a:r>
              <a:t>5. Profile &amp; achievements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Thank You!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0175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>
                <a:solidFill>
                  <a:srgbClr val="7C4DFF"/>
                </a:solidFill>
              </a:defRPr>
            </a:pPr>
            <a:r>
              <a:t>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E676"/>
                </a:solidFill>
              </a:defRPr>
            </a:pPr>
            <a:r>
              <a:t>DebugMaster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i="1">
                <a:solidFill>
                  <a:srgbClr val="B8B8D0"/>
                </a:solidFill>
              </a:defRPr>
            </a:pPr>
            <a:r>
              <a:t>Learn to Debug. Level Up. Compete.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