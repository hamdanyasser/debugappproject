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0" y="109728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0"/>
            </a:pPr>
            <a:r>
              <a:t>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889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 b="1">
                <a:solidFill>
                  <a:srgbClr val="FFFFFF"/>
                </a:solidFill>
              </a:defRPr>
            </a:pPr>
            <a:r>
              <a:t>DEBUG MASTER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57600"/>
            <a:ext cx="121889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9FF14"/>
                </a:solidFill>
              </a:defRPr>
            </a:pPr>
            <a:r>
              <a:t>LEARN TO DEBUG  •  LEVEL UP  •  COMPETE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4572000"/>
            <a:ext cx="4873752" cy="76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5303520"/>
            <a:ext cx="121889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D700"/>
                </a:solidFill>
              </a:defRPr>
            </a:pPr>
            <a:r>
              <a:t>YASSER HAMDAN  &amp;  MOHAMAD DMAYRIYE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66560"/>
            <a:ext cx="12188952" cy="76200"/>
          </a:xfrm>
          <a:prstGeom prst="rect">
            <a:avLst/>
          </a:prstGeom>
          <a:solidFill>
            <a:srgbClr val="FF1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14400"/>
            <a:ext cx="121889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0" b="1">
                <a:solidFill>
                  <a:srgbClr val="FF10F0"/>
                </a:solidFill>
              </a:defRPr>
            </a:pPr>
            <a:r>
              <a:t>70%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92608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of developer time is spent DEBUGGING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389120"/>
            <a:ext cx="121889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C8DC"/>
                </a:solidFill>
              </a:defRPr>
            </a:pPr>
            <a:r>
              <a:t>Yet learning to debug is...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5029200"/>
            <a:ext cx="2743200" cy="1188720"/>
          </a:xfrm>
          <a:prstGeom prst="roundRect">
            <a:avLst/>
          </a:prstGeom>
          <a:solidFill>
            <a:srgbClr val="141428"/>
          </a:solidFill>
          <a:ln w="38100">
            <a:solidFill>
              <a:srgbClr val="FF1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521208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😴 BORING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5029200"/>
            <a:ext cx="2743200" cy="1188720"/>
          </a:xfrm>
          <a:prstGeom prst="roundRect">
            <a:avLst/>
          </a:prstGeom>
          <a:solidFill>
            <a:srgbClr val="141428"/>
          </a:solidFill>
          <a:ln w="38100">
            <a:solidFill>
              <a:srgbClr val="FF1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521208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😤 FRUSTRATING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5029200"/>
            <a:ext cx="2743200" cy="1188720"/>
          </a:xfrm>
          <a:prstGeom prst="roundRect">
            <a:avLst/>
          </a:prstGeom>
          <a:solidFill>
            <a:srgbClr val="141428"/>
          </a:solidFill>
          <a:ln w="38100">
            <a:solidFill>
              <a:srgbClr val="FF1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521208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🚫 NOT TAUGHT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31520"/>
            <a:ext cx="121889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C8C8DC"/>
                </a:solidFill>
              </a:defRPr>
            </a:pPr>
            <a:r>
              <a:t>What if debugging was...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121889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0" b="1">
                <a:solidFill>
                  <a:srgbClr val="39FF14"/>
                </a:solidFill>
              </a:defRPr>
            </a:pPr>
            <a:r>
              <a:t>🎮 FUN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474720"/>
            <a:ext cx="2560320" cy="2560320"/>
          </a:xfrm>
          <a:prstGeom prst="roundRect">
            <a:avLst/>
          </a:prstGeom>
          <a:solidFill>
            <a:srgbClr val="141428"/>
          </a:solidFill>
          <a:ln w="508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0"/>
            </a:pPr>
            <a:r>
              <a:t>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8A2BE2"/>
                </a:solidFill>
              </a:defRPr>
            </a:pPr>
            <a:r>
              <a:t>FIX REAL BUGS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8C8DC"/>
                </a:solidFill>
              </a:defRPr>
            </a:pPr>
            <a:r>
              <a:t>Actual code execution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3474720"/>
            <a:ext cx="2560320" cy="2560320"/>
          </a:xfrm>
          <a:prstGeom prst="roundRect">
            <a:avLst/>
          </a:prstGeom>
          <a:solidFill>
            <a:srgbClr val="141428"/>
          </a:solidFill>
          <a:ln w="50800">
            <a:solidFill>
              <a:srgbClr val="FF1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365760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0"/>
            </a:pPr>
            <a:r>
              <a:t>⚔️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457200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10F0"/>
                </a:solidFill>
              </a:defRPr>
            </a:pPr>
            <a:r>
              <a:t>COMPETE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502920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8C8DC"/>
                </a:solidFill>
              </a:defRPr>
            </a:pPr>
            <a:r>
              <a:t>Ranked Elo battles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474720"/>
            <a:ext cx="2560320" cy="2560320"/>
          </a:xfrm>
          <a:prstGeom prst="roundRect">
            <a:avLst/>
          </a:prstGeom>
          <a:solidFill>
            <a:srgbClr val="141428"/>
          </a:solidFill>
          <a:ln w="508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65760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0"/>
            </a:pPr>
            <a:r>
              <a:t>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7200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FFFF"/>
                </a:solidFill>
              </a:defRPr>
            </a:pPr>
            <a:r>
              <a:t>AI MENTOR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02920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8C8DC"/>
                </a:solidFill>
              </a:defRPr>
            </a:pPr>
            <a:r>
              <a:t>Socratic guidance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3474720"/>
            <a:ext cx="2560320" cy="2560320"/>
          </a:xfrm>
          <a:prstGeom prst="roundRect">
            <a:avLst/>
          </a:prstGeom>
          <a:solidFill>
            <a:srgbClr val="141428"/>
          </a:solidFill>
          <a:ln w="508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365760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0"/>
            </a:pPr>
            <a:r>
              <a:t>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457200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</a:defRPr>
            </a:pPr>
            <a:r>
              <a:t>LEVEL 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502920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8C8DC"/>
                </a:solidFill>
              </a:defRPr>
            </a:pPr>
            <a:r>
              <a:t>XP &amp; achievements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FFFF"/>
                </a:solidFill>
              </a:defRPr>
            </a:pPr>
            <a:r>
              <a:t>⚡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8A2BE2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46304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SEE THE BUG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9202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C8DC"/>
                </a:solidFill>
              </a:defRPr>
            </a:pPr>
            <a:r>
              <a:t>Broken code + error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37160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/>
            </a:pPr>
            <a:r>
              <a:t>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8A2BE2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7432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FIX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32004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C8DC"/>
                </a:solidFill>
              </a:defRPr>
            </a:pPr>
            <a:r>
              <a:t>Edit code in real-time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65176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/>
            </a:pPr>
            <a:r>
              <a:t>✏️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8A2BE2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4023359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RUN 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4480559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C8DC"/>
                </a:solidFill>
              </a:defRPr>
            </a:pPr>
            <a:r>
              <a:t>Janino compiler executes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393192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/>
            </a:pPr>
            <a:r>
              <a:t>▶️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12079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8A2BE2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5303519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CELEBRATE!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5760719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C8DC"/>
                </a:solidFill>
              </a:defRPr>
            </a:pPr>
            <a:r>
              <a:t>XP + confetti + level 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5212079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/>
            </a:pPr>
            <a:r>
              <a:t>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6217920"/>
            <a:ext cx="4873752" cy="640080"/>
          </a:xfrm>
          <a:prstGeom prst="round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6309360"/>
            <a:ext cx="4873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A0A14"/>
                </a:solidFill>
              </a:defRPr>
            </a:pPr>
            <a:r>
              <a:t>🎬 LIVE DEMO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D700"/>
                </a:solidFill>
              </a:defRPr>
            </a:pPr>
            <a:r>
              <a:t>🎮 8 GAME MODES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2651760" cy="2194560"/>
          </a:xfrm>
          <a:prstGeom prst="roundRect">
            <a:avLst/>
          </a:prstGeom>
          <a:solidFill>
            <a:srgbClr val="141428"/>
          </a:solidFill>
          <a:ln w="381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26517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⏱️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Quick Fix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39FF14"/>
                </a:solidFill>
              </a:defRPr>
            </a:pPr>
            <a:r>
              <a:t>60 sec per bug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371600"/>
            <a:ext cx="2651760" cy="2194560"/>
          </a:xfrm>
          <a:prstGeom prst="roundRect">
            <a:avLst/>
          </a:prstGeom>
          <a:solidFill>
            <a:srgbClr val="141428"/>
          </a:solidFill>
          <a:ln w="38100">
            <a:solidFill>
              <a:srgbClr val="FF1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1554480"/>
            <a:ext cx="26517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⚔️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37744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Battle Arena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83464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10F0"/>
                </a:solidFill>
              </a:defRPr>
            </a:pPr>
            <a:r>
              <a:t>1v1 Elo ranked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371600"/>
            <a:ext cx="2651760" cy="2194560"/>
          </a:xfrm>
          <a:prstGeom prst="roundRect">
            <a:avLst/>
          </a:prstGeom>
          <a:solidFill>
            <a:srgbClr val="141428"/>
          </a:solidFill>
          <a:ln w="381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1554480"/>
            <a:ext cx="26517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237744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Speed 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283464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FFFF"/>
                </a:solidFill>
              </a:defRPr>
            </a:pPr>
            <a:r>
              <a:t>Race the clock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19" y="1371600"/>
            <a:ext cx="2651760" cy="2194560"/>
          </a:xfrm>
          <a:prstGeom prst="roundRect">
            <a:avLst/>
          </a:prstGeom>
          <a:solidFill>
            <a:srgbClr val="141428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19" y="1554480"/>
            <a:ext cx="26517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19" y="237744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Puzzle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19" y="283464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8A2BE2"/>
                </a:solidFill>
              </a:defRPr>
            </a:pPr>
            <a:r>
              <a:t>No hints, 3x XP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31920"/>
            <a:ext cx="2651760" cy="2194560"/>
          </a:xfrm>
          <a:prstGeom prst="roundRect">
            <a:avLst/>
          </a:prstGeom>
          <a:solidFill>
            <a:srgbClr val="141428"/>
          </a:solidFill>
          <a:ln w="381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114800"/>
            <a:ext cx="26517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93776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Daily Challenge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39496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D700"/>
                </a:solidFill>
              </a:defRPr>
            </a:pPr>
            <a:r>
              <a:t>Fresh bugs daily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29000" y="3931920"/>
            <a:ext cx="2651760" cy="2194560"/>
          </a:xfrm>
          <a:prstGeom prst="roundRect">
            <a:avLst/>
          </a:prstGeom>
          <a:solidFill>
            <a:srgbClr val="141428"/>
          </a:solidFill>
          <a:ln w="38100">
            <a:solidFill>
              <a:srgbClr val="FF1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29000" y="4114800"/>
            <a:ext cx="26517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493776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Mystery Bug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539496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10F0"/>
                </a:solidFill>
              </a:defRPr>
            </a:pPr>
            <a:r>
              <a:t>Random 5x XP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59" y="3931920"/>
            <a:ext cx="2651760" cy="2194560"/>
          </a:xfrm>
          <a:prstGeom prst="roundRect">
            <a:avLst/>
          </a:prstGeom>
          <a:solidFill>
            <a:srgbClr val="141428"/>
          </a:solidFill>
          <a:ln w="381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59" y="4114800"/>
            <a:ext cx="26517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493776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Survival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59" y="539496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39FF14"/>
                </a:solidFill>
              </a:defRPr>
            </a:pPr>
            <a:r>
              <a:t>1 life, endless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89719" y="3931920"/>
            <a:ext cx="2651760" cy="2194560"/>
          </a:xfrm>
          <a:prstGeom prst="roundRect">
            <a:avLst/>
          </a:prstGeom>
          <a:solidFill>
            <a:srgbClr val="141428"/>
          </a:solidFill>
          <a:ln w="381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89719" y="4114800"/>
            <a:ext cx="26517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19" y="493776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Tutorial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19" y="539496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FFFF"/>
                </a:solidFill>
              </a:defRPr>
            </a:pPr>
            <a:r>
              <a:t>Learn step by step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10F0"/>
                </a:solidFill>
              </a:defRPr>
            </a:pPr>
            <a:r>
              <a:t>⚔️ RANKED BATTLES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05840"/>
            <a:ext cx="121889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C8C8DC"/>
                </a:solidFill>
              </a:defRPr>
            </a:pPr>
            <a:r>
              <a:t>Elo Rating System • Like Chess &amp; League of Legends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463040" cy="1645920"/>
          </a:xfrm>
          <a:prstGeom prst="roundRect">
            <a:avLst/>
          </a:prstGeom>
          <a:solidFill>
            <a:srgbClr val="141428"/>
          </a:solidFill>
          <a:ln w="38100">
            <a:solidFill>
              <a:srgbClr val="C8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1463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/>
            </a:pPr>
            <a:r>
              <a:t>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C8C8DC"/>
                </a:solidFill>
              </a:defRPr>
            </a:pPr>
            <a:r>
              <a:t>Unranked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1828800"/>
            <a:ext cx="1463040" cy="1645920"/>
          </a:xfrm>
          <a:prstGeom prst="roundRect">
            <a:avLst/>
          </a:prstGeom>
          <a:solidFill>
            <a:srgbClr val="141428"/>
          </a:solidFill>
          <a:ln w="38100">
            <a:solidFill>
              <a:srgbClr val="CD7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1965960"/>
            <a:ext cx="1463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/>
            </a:pPr>
            <a:r>
              <a:t>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74320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CD7F32"/>
                </a:solidFill>
              </a:defRPr>
            </a:pPr>
            <a:r>
              <a:t>Bronze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1828800"/>
            <a:ext cx="1463040" cy="1645920"/>
          </a:xfrm>
          <a:prstGeom prst="roundRect">
            <a:avLst/>
          </a:prstGeom>
          <a:solidFill>
            <a:srgbClr val="141428"/>
          </a:solidFill>
          <a:ln w="38100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1965960"/>
            <a:ext cx="1463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/>
            </a:pPr>
            <a:r>
              <a:t>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74320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C0C0C0"/>
                </a:solidFill>
              </a:defRPr>
            </a:pPr>
            <a:r>
              <a:t>Silver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1828800"/>
            <a:ext cx="1463040" cy="1645920"/>
          </a:xfrm>
          <a:prstGeom prst="roundRect">
            <a:avLst/>
          </a:prstGeom>
          <a:solidFill>
            <a:srgbClr val="141428"/>
          </a:solidFill>
          <a:ln w="381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1965960"/>
            <a:ext cx="1463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/>
            </a:pPr>
            <a:r>
              <a:t>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74320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D700"/>
                </a:solidFill>
              </a:defRPr>
            </a:pPr>
            <a:r>
              <a:t>Gold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0" y="1828800"/>
            <a:ext cx="1463040" cy="1645920"/>
          </a:xfrm>
          <a:prstGeom prst="roundRect">
            <a:avLst/>
          </a:prstGeom>
          <a:solidFill>
            <a:srgbClr val="141428"/>
          </a:solidFill>
          <a:ln w="381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1965960"/>
            <a:ext cx="1463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/>
            </a:pPr>
            <a:r>
              <a:t>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74320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FFFF"/>
                </a:solidFill>
              </a:defRPr>
            </a:pPr>
            <a:r>
              <a:t>Diamond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1828800"/>
            <a:ext cx="1463040" cy="1645920"/>
          </a:xfrm>
          <a:prstGeom prst="roundRect">
            <a:avLst/>
          </a:prstGeom>
          <a:solidFill>
            <a:srgbClr val="141428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0" y="1965960"/>
            <a:ext cx="1463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/>
            </a:pPr>
            <a:r>
              <a:t>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74320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8A2BE2"/>
                </a:solidFill>
              </a:defRPr>
            </a:pPr>
            <a:r>
              <a:t>Master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332720" y="1828800"/>
            <a:ext cx="1463040" cy="1645920"/>
          </a:xfrm>
          <a:prstGeom prst="roundRect">
            <a:avLst/>
          </a:prstGeom>
          <a:solidFill>
            <a:srgbClr val="141428"/>
          </a:solidFill>
          <a:ln w="38100">
            <a:solidFill>
              <a:srgbClr val="FF1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32720" y="1965960"/>
            <a:ext cx="1463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/>
            </a:pPr>
            <a:r>
              <a:t>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274320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10F0"/>
                </a:solidFill>
              </a:defRPr>
            </a:pPr>
            <a:r>
              <a:t>Legend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114800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🎯 Same bug, race to fix first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114800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📈 Win = gain Elo, Lose = drop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937760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🔥 Win streaks = bonus multiplier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937760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🏅 Seasonal rewards for top players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FFFF"/>
                </a:solidFill>
              </a:defRPr>
            </a:pPr>
            <a:r>
              <a:t>🛠️ TECH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371600"/>
            <a:ext cx="8531352" cy="914400"/>
          </a:xfrm>
          <a:prstGeom prst="roundRect">
            <a:avLst/>
          </a:prstGeom>
          <a:solidFill>
            <a:srgbClr val="141428"/>
          </a:solidFill>
          <a:ln w="508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0" y="155448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A2BE2"/>
                </a:solidFill>
              </a:defRPr>
            </a:pPr>
            <a:r>
              <a:t>📱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6002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Fragments + Material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2560320"/>
            <a:ext cx="8531352" cy="914400"/>
          </a:xfrm>
          <a:prstGeom prst="roundRect">
            <a:avLst/>
          </a:prstGeom>
          <a:solidFill>
            <a:srgbClr val="141428"/>
          </a:solidFill>
          <a:ln w="508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274320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9FF14"/>
                </a:solidFill>
              </a:defRPr>
            </a:pPr>
            <a:r>
              <a:t>🧠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7889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MVVM + ViewModels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749039"/>
            <a:ext cx="8531352" cy="914400"/>
          </a:xfrm>
          <a:prstGeom prst="roundRect">
            <a:avLst/>
          </a:prstGeom>
          <a:solidFill>
            <a:srgbClr val="141428"/>
          </a:solidFill>
          <a:ln w="508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3931919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FFFF"/>
                </a:solidFill>
              </a:defRPr>
            </a:pPr>
            <a:r>
              <a:t>📦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3977639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Room DB (11 tables)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937760"/>
            <a:ext cx="8531352" cy="914400"/>
          </a:xfrm>
          <a:prstGeom prst="roundRect">
            <a:avLst/>
          </a:prstGeom>
          <a:solidFill>
            <a:srgbClr val="141428"/>
          </a:solidFill>
          <a:ln w="508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0" y="51206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D700"/>
                </a:solidFill>
              </a:defRPr>
            </a:pPr>
            <a:r>
              <a:t>☁️ Cloud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51663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Firebase + GPT-4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5943600"/>
            <a:ext cx="1828800" cy="640080"/>
          </a:xfrm>
          <a:prstGeom prst="round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60350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Java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5943600"/>
            <a:ext cx="1828800" cy="640080"/>
          </a:xfrm>
          <a:prstGeom prst="round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60350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Hilt DI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94960" y="5943600"/>
            <a:ext cx="1828800" cy="640080"/>
          </a:xfrm>
          <a:prstGeom prst="round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0" y="60350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Janino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5943600"/>
            <a:ext cx="1828800" cy="640080"/>
          </a:xfrm>
          <a:prstGeom prst="round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60350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Firebase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18320" y="5943600"/>
            <a:ext cx="1828800" cy="640080"/>
          </a:xfrm>
          <a:prstGeom prst="round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60350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GPT-4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889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/>
            </a:pPr>
            <a:r>
              <a:t>🐛🎮🏆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889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74720"/>
            <a:ext cx="121889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39FF14"/>
                </a:solidFill>
              </a:defRPr>
            </a:pPr>
            <a:r>
              <a:t>DEBUG MASTER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206240"/>
            <a:ext cx="121889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DC"/>
                </a:solidFill>
              </a:defRPr>
            </a:pPr>
            <a:r>
              <a:t>Learn to Debug  •  Level Up  •  Compete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5029200"/>
            <a:ext cx="3959352" cy="914400"/>
          </a:xfrm>
          <a:prstGeom prst="roundRect">
            <a:avLst/>
          </a:prstGeom>
          <a:solidFill>
            <a:srgbClr val="FF1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5212080"/>
            <a:ext cx="39593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217920"/>
            <a:ext cx="121889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D700"/>
                </a:solidFill>
              </a:defRPr>
            </a:pPr>
            <a:r>
              <a:t>Yasser Hamdan  &amp;  Mohamad Dmayriye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66560"/>
            <a:ext cx="12188952" cy="762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